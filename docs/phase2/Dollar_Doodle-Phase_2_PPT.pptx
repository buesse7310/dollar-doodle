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9" r:id="rId1"/>
  </p:sldMasterIdLst>
  <p:notesMasterIdLst>
    <p:notesMasterId r:id="rId22"/>
  </p:notesMasterIdLst>
  <p:sldIdLst>
    <p:sldId id="256" r:id="rId2"/>
    <p:sldId id="264" r:id="rId3"/>
    <p:sldId id="262" r:id="rId4"/>
    <p:sldId id="257" r:id="rId5"/>
    <p:sldId id="274" r:id="rId6"/>
    <p:sldId id="271" r:id="rId7"/>
    <p:sldId id="270" r:id="rId8"/>
    <p:sldId id="272" r:id="rId9"/>
    <p:sldId id="273" r:id="rId10"/>
    <p:sldId id="277" r:id="rId11"/>
    <p:sldId id="260" r:id="rId12"/>
    <p:sldId id="267" r:id="rId13"/>
    <p:sldId id="268" r:id="rId14"/>
    <p:sldId id="258" r:id="rId15"/>
    <p:sldId id="261" r:id="rId16"/>
    <p:sldId id="278" r:id="rId17"/>
    <p:sldId id="265" r:id="rId18"/>
    <p:sldId id="266" r:id="rId19"/>
    <p:sldId id="263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84A33DD-4374-4EE6-A635-C269E7F77678}">
          <p14:sldIdLst>
            <p14:sldId id="256"/>
            <p14:sldId id="264"/>
            <p14:sldId id="262"/>
            <p14:sldId id="257"/>
            <p14:sldId id="274"/>
            <p14:sldId id="271"/>
            <p14:sldId id="270"/>
            <p14:sldId id="272"/>
            <p14:sldId id="273"/>
            <p14:sldId id="277"/>
            <p14:sldId id="260"/>
            <p14:sldId id="267"/>
            <p14:sldId id="268"/>
            <p14:sldId id="258"/>
            <p14:sldId id="261"/>
            <p14:sldId id="278"/>
            <p14:sldId id="265"/>
            <p14:sldId id="266"/>
            <p14:sldId id="263"/>
            <p14:sldId id="276"/>
          </p14:sldIdLst>
        </p14:section>
        <p14:section name="Untitled Section" id="{43583FA6-A542-4726-BFC0-871EBAE1B7B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C61E14-CDC4-A022-3E93-454B82DC3132}" v="31" dt="2026-03-22T22:28:49.488"/>
    <p1510:client id="{54AAE1F5-F35F-4981-6F16-6EE0EA207B6F}" v="687" dt="2026-03-22T19:08:21.017"/>
    <p1510:client id="{6E5E2B19-8B1D-DE81-7281-4300D26269E4}" v="77" dt="2026-03-22T22:10:56.712"/>
    <p1510:client id="{758BEA95-0E44-A6A9-E782-935B501DBCFF}" v="24" dt="2026-03-22T21:44:04.669"/>
    <p1510:client id="{A148224D-A13C-B29C-99B1-0E4C1F3798BC}" v="47" dt="2026-03-22T21:24:47.380"/>
    <p1510:client id="{B00E66F7-0D22-A541-A4A0-48094A25E074}" v="69" dt="2026-03-22T22:33:33.432"/>
    <p1510:client id="{EB5EB8CF-B568-688D-E31F-A09B32641C82}" v="2" dt="2026-03-22T19:10:26.7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3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D84666-82EA-4074-A5A1-61021E557DE2}" type="datetimeFigureOut">
              <a:t>3/22/26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AF23C-DA45-4C5B-8B48-09B23F88059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eva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AF23C-DA45-4C5B-8B48-09B23F880599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91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eva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AF23C-DA45-4C5B-8B48-09B23F880599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919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Eva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AF23C-DA45-4C5B-8B48-09B23F880599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46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eva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AF23C-DA45-4C5B-8B48-09B23F880599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88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Roma :</a:t>
            </a:r>
          </a:p>
          <a:p>
            <a:pPr>
              <a:spcBef>
                <a:spcPct val="0"/>
              </a:spcBef>
            </a:pPr>
            <a:r>
              <a:rPr lang="en-US" b="1"/>
              <a:t>Users</a:t>
            </a:r>
            <a:r>
              <a:rPr lang="en-US"/>
              <a:t> -</a:t>
            </a:r>
            <a:endParaRPr lang="en-US">
              <a:cs typeface="+mn-lt"/>
            </a:endParaRPr>
          </a:p>
          <a:p>
            <a:pPr>
              <a:spcBef>
                <a:spcPct val="0"/>
              </a:spcBef>
            </a:pPr>
            <a:r>
              <a:rPr lang="en-US" b="1"/>
              <a:t>Categories</a:t>
            </a:r>
            <a:r>
              <a:rPr lang="en-US"/>
              <a:t> - </a:t>
            </a:r>
            <a:endParaRPr lang="en-US">
              <a:cs typeface="+mn-lt"/>
            </a:endParaRPr>
          </a:p>
          <a:p>
            <a:pPr>
              <a:spcBef>
                <a:spcPct val="0"/>
              </a:spcBef>
            </a:pPr>
            <a:r>
              <a:rPr lang="en-US" b="1"/>
              <a:t>Expenses</a:t>
            </a:r>
            <a:r>
              <a:rPr lang="en-US"/>
              <a:t> - </a:t>
            </a:r>
            <a:endParaRPr lang="en-US">
              <a:cs typeface="+mn-lt"/>
            </a:endParaRPr>
          </a:p>
          <a:p>
            <a:pPr>
              <a:spcBef>
                <a:spcPct val="0"/>
              </a:spcBef>
            </a:pPr>
            <a:r>
              <a:rPr lang="en-US" b="1"/>
              <a:t>Income</a:t>
            </a:r>
            <a:r>
              <a:rPr lang="en-US"/>
              <a:t> -</a:t>
            </a:r>
            <a:endParaRPr lang="en-US">
              <a:solidFill>
                <a:srgbClr val="FFFFFF"/>
              </a:solidFill>
            </a:endParaRPr>
          </a:p>
          <a:p>
            <a:r>
              <a:rPr lang="en-US" b="1">
                <a:solidFill>
                  <a:schemeClr val="bg1"/>
                </a:solidFill>
              </a:rPr>
              <a:t>Budget Suggestions</a:t>
            </a:r>
            <a:r>
              <a:rPr lang="en-US">
                <a:solidFill>
                  <a:schemeClr val="bg1"/>
                </a:solidFill>
              </a:rPr>
              <a:t>  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bg1"/>
                </a:solidFill>
              </a:rPr>
              <a:t>Receipts</a:t>
            </a:r>
            <a:r>
              <a:rPr lang="en-US">
                <a:solidFill>
                  <a:schemeClr val="bg1"/>
                </a:solidFill>
              </a:rPr>
              <a:t>  –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AF23C-DA45-4C5B-8B48-09B23F880599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45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Roma : </a:t>
            </a:r>
            <a:r>
              <a:rPr lang="en-US"/>
              <a:t>This flowchart shows how a user moves through our Dollar Doodle app - from logging in to tracking their finances.</a:t>
            </a:r>
          </a:p>
          <a:p>
            <a:r>
              <a:rPr lang="en-US"/>
              <a:t>First, the user starts on our start page. If they already have an account, they log in - that's where our database authenticates them by checking their email and password in the Users table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Once logged in, they see their Dashboard Overview - a snapshot of their current balance, recent expenses, and budget status. This pulls data from multiple tables we designed.</a:t>
            </a:r>
          </a:p>
          <a:p>
            <a:r>
              <a:rPr lang="en-US"/>
              <a:t>From here, users can do two things:</a:t>
            </a:r>
          </a:p>
          <a:p>
            <a:r>
              <a:rPr lang="en-US"/>
              <a:t>Add Income Source - They can add salary, freelance income, etc. This data goes directly into our Incomes table.</a:t>
            </a:r>
          </a:p>
          <a:p>
            <a:r>
              <a:rPr lang="en-US"/>
              <a:t>Scan Receipt to Add Expenses - They can photograph a receipt, and our app extracts the data to create a new expense record in our Expenses table.</a:t>
            </a:r>
          </a:p>
          <a:p>
            <a:r>
              <a:rPr lang="en-US"/>
              <a:t>then we have loops:</a:t>
            </a:r>
          </a:p>
          <a:p>
            <a:r>
              <a:rPr lang="en-US"/>
              <a:t>Data Input Loop - Users continuously add new income and expenses.</a:t>
            </a:r>
          </a:p>
          <a:p>
            <a:r>
              <a:rPr lang="en-US"/>
              <a:t>Utility Loop - The app constantly updates their budget calculations and shows spending insights.</a:t>
            </a:r>
          </a:p>
          <a:p>
            <a:r>
              <a:rPr lang="en-US"/>
              <a:t>So in simple terms: User logs in → Sees dashboard → Adds transactions → Database updates → Dashboard refreshes. 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AF23C-DA45-4C5B-8B48-09B23F880599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984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1D5E-9D55-6D4E-A1BF-1ABFA8A927DF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4EDC-A2C5-8044-90FF-588087AE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63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1D5E-9D55-6D4E-A1BF-1ABFA8A927DF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4EDC-A2C5-8044-90FF-588087AE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64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1D5E-9D55-6D4E-A1BF-1ABFA8A927DF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4EDC-A2C5-8044-90FF-588087AE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85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1D5E-9D55-6D4E-A1BF-1ABFA8A927DF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4EDC-A2C5-8044-90FF-588087AE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1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1D5E-9D55-6D4E-A1BF-1ABFA8A927DF}" type="datetimeFigureOut">
              <a:rPr lang="en-US" smtClean="0"/>
              <a:t>3/22/26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4EDC-A2C5-8044-90FF-588087AE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65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1D5E-9D55-6D4E-A1BF-1ABFA8A927DF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4EDC-A2C5-8044-90FF-588087AE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9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1D5E-9D55-6D4E-A1BF-1ABFA8A927DF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4EDC-A2C5-8044-90FF-588087AE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464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1D5E-9D55-6D4E-A1BF-1ABFA8A927DF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4EDC-A2C5-8044-90FF-588087AE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50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1D5E-9D55-6D4E-A1BF-1ABFA8A927DF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4EDC-A2C5-8044-90FF-588087AE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016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1D5E-9D55-6D4E-A1BF-1ABFA8A927DF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4EDC-A2C5-8044-90FF-588087AE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1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1D5E-9D55-6D4E-A1BF-1ABFA8A927DF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4EDC-A2C5-8044-90FF-588087AE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41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1D5E-9D55-6D4E-A1BF-1ABFA8A927DF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4EDC-A2C5-8044-90FF-588087AED65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2471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1D5E-9D55-6D4E-A1BF-1ABFA8A927DF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4EDC-A2C5-8044-90FF-588087AE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03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1D5E-9D55-6D4E-A1BF-1ABFA8A927DF}" type="datetimeFigureOut">
              <a:rPr lang="en-US" smtClean="0"/>
              <a:t>3/22/26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4EDC-A2C5-8044-90FF-588087AE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64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1D5E-9D55-6D4E-A1BF-1ABFA8A927DF}" type="datetimeFigureOut">
              <a:rPr lang="en-US" smtClean="0"/>
              <a:t>3/22/26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4EDC-A2C5-8044-90FF-588087AE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287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1D5E-9D55-6D4E-A1BF-1ABFA8A927DF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4EDC-A2C5-8044-90FF-588087AE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60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1D5E-9D55-6D4E-A1BF-1ABFA8A927DF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4EDC-A2C5-8044-90FF-588087AE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296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BBB1D5E-9D55-6D4E-A1BF-1ABFA8A927DF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D4EDC-A2C5-8044-90FF-588087AE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289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  <p:sldLayoutId id="2147483843" r:id="rId14"/>
    <p:sldLayoutId id="2147483844" r:id="rId15"/>
    <p:sldLayoutId id="2147483845" r:id="rId16"/>
    <p:sldLayoutId id="214748384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742C6EAF-97EB-BCFD-2D09-E9BF3BB5E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3153" y="4336081"/>
            <a:ext cx="3352375" cy="1024195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r>
              <a:rPr lang="en-US" sz="2400" dirty="0">
                <a:latin typeface="+mn-lt"/>
              </a:rPr>
              <a:t>Team 1</a:t>
            </a:r>
          </a:p>
          <a:p>
            <a:r>
              <a:rPr lang="en-US" sz="2400" dirty="0">
                <a:latin typeface="+mn-lt"/>
              </a:rPr>
              <a:t>Phase 2 Presentation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1E981B-F06E-48B4-9275-F4B261AFC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5712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36">
            <a:extLst>
              <a:ext uri="{FF2B5EF4-FFF2-40B4-BE49-F238E27FC236}">
                <a16:creationId xmlns:a16="http://schemas.microsoft.com/office/drawing/2014/main" id="{312E2C24-0CD2-4071-8CE2-B059993A9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24F1DC13-C830-4B86-A9C6-927F5C55D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3708596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 descr="A logo with a dollar sign&#10;&#10;AI-generated content may be incorrect.">
            <a:extLst>
              <a:ext uri="{FF2B5EF4-FFF2-40B4-BE49-F238E27FC236}">
                <a16:creationId xmlns:a16="http://schemas.microsoft.com/office/drawing/2014/main" id="{1AED698D-02B6-448F-AF8F-84884B68EE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33" t="11882" r="386" b="10730"/>
          <a:stretch>
            <a:fillRect/>
          </a:stretch>
        </p:blipFill>
        <p:spPr>
          <a:xfrm>
            <a:off x="643854" y="1123410"/>
            <a:ext cx="6270662" cy="461071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79103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D9B8F-77A1-FB0A-4A79-FA49AD42F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6897"/>
          </a:xfrm>
        </p:spPr>
        <p:txBody>
          <a:bodyPr/>
          <a:lstStyle/>
          <a:p>
            <a:r>
              <a:rPr lang="en-US" sz="4400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05E82-D98F-A29A-A914-489B7AEE9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52022"/>
            <a:ext cx="8946541" cy="48963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- Core Functionality</a:t>
            </a:r>
          </a:p>
          <a:p>
            <a:r>
              <a:rPr lang="en-US" dirty="0"/>
              <a:t>- Front-end Design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-	Home/ Login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- New User/ Registration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- Dashboard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-	 Future Improvements</a:t>
            </a:r>
          </a:p>
          <a:p>
            <a:r>
              <a:rPr lang="en-US" dirty="0"/>
              <a:t>Database Design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- Core Tables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- Back-end Design</a:t>
            </a:r>
          </a:p>
          <a:p>
            <a:r>
              <a:rPr lang="en-US" dirty="0"/>
              <a:t>- Timeline</a:t>
            </a:r>
          </a:p>
          <a:p>
            <a:r>
              <a:rPr lang="en-US" dirty="0"/>
              <a:t>- Conclusion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950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74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5818-0DFF-30A8-6F69-55BF4701D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446" y="195876"/>
            <a:ext cx="36783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Core</a:t>
            </a: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dirty="0">
                <a:solidFill>
                  <a:srgbClr val="FFFFFF"/>
                </a:solidFill>
              </a:rPr>
              <a:t>Functionality</a:t>
            </a:r>
            <a:endParaRPr lang="en-US" sz="4400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4" name="Content Placeholder 3" descr="A screenshot of a chat&#10;&#10;AI-generated content may be incorrect.">
            <a:extLst>
              <a:ext uri="{FF2B5EF4-FFF2-40B4-BE49-F238E27FC236}">
                <a16:creationId xmlns:a16="http://schemas.microsoft.com/office/drawing/2014/main" id="{1CA7CB98-4514-375B-AD32-246A5798E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5828" y="-967"/>
            <a:ext cx="8306224" cy="687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82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A085689-791F-4B8F-9F30-12415B97D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3FED7F-6821-47C0-A464-E9278B241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8F54B2FB-3F54-4350-8D1B-F86D677CA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61B34F5-88E5-4711-BC16-3005C29A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F3661D0-2268-4D3E-88BA-0647BCBE3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DB56DB5-0324-4F79-9AB8-CB18C1DC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4322390-8B58-46BE-88EB-D9FD30C0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9 Best Front-End Coding Languages to Learn - App Academy">
            <a:extLst>
              <a:ext uri="{FF2B5EF4-FFF2-40B4-BE49-F238E27FC236}">
                <a16:creationId xmlns:a16="http://schemas.microsoft.com/office/drawing/2014/main" id="{5029F5AF-9361-07F9-387B-5F5884787CC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rcRect t="233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3BA4F6-57AB-BEF8-4A2D-7CF53EBE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Front-end</a:t>
            </a:r>
            <a:r>
              <a:rPr lang="en-US" sz="7200" dirty="0">
                <a:solidFill>
                  <a:schemeClr val="tx1"/>
                </a:solidFill>
              </a:rPr>
              <a:t> </a:t>
            </a:r>
            <a:r>
              <a:rPr lang="en-US" sz="4400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EE146-ADE9-104C-D2F9-ED42D174F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5" y="4777380"/>
            <a:ext cx="8825658" cy="8614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>
                <a:solidFill>
                  <a:schemeClr val="tx1"/>
                </a:solidFill>
              </a:rPr>
              <a:t>The front-end was implemented using HTML, CSS, and JavaScript. </a:t>
            </a:r>
          </a:p>
          <a:p>
            <a:r>
              <a:rPr lang="en-US" sz="1900">
                <a:solidFill>
                  <a:schemeClr val="tx1"/>
                </a:solidFill>
              </a:rPr>
              <a:t>It also incorporates the Google OAuth login API.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47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C1AEF5B8-219F-752B-50F2-2F7E507F1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260" y="1209034"/>
            <a:ext cx="3324569" cy="46679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E4B10B-49A6-27F6-BB15-BA5B4DD6B849}"/>
              </a:ext>
            </a:extLst>
          </p:cNvPr>
          <p:cNvSpPr txBox="1"/>
          <p:nvPr/>
        </p:nvSpPr>
        <p:spPr>
          <a:xfrm>
            <a:off x="2074605" y="6116740"/>
            <a:ext cx="33359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Google OAuth 2.0 Setup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E141E7-7906-FB78-0C38-8E745567D445}"/>
              </a:ext>
            </a:extLst>
          </p:cNvPr>
          <p:cNvSpPr txBox="1"/>
          <p:nvPr/>
        </p:nvSpPr>
        <p:spPr>
          <a:xfrm>
            <a:off x="7258926" y="6180239"/>
            <a:ext cx="27236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Front-end File Structure</a:t>
            </a:r>
            <a:endParaRPr lang="en-US" dirty="0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3D90E1-B1FD-1372-B197-CFE18233A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593" y="1202460"/>
            <a:ext cx="2714171" cy="46754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B11F91-7922-1698-85A2-892DFC669C9A}"/>
              </a:ext>
            </a:extLst>
          </p:cNvPr>
          <p:cNvSpPr txBox="1"/>
          <p:nvPr/>
        </p:nvSpPr>
        <p:spPr>
          <a:xfrm>
            <a:off x="317499" y="308429"/>
            <a:ext cx="864114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/>
              <a:t>Front-end Design (cont.)</a:t>
            </a:r>
          </a:p>
        </p:txBody>
      </p:sp>
    </p:spTree>
    <p:extLst>
      <p:ext uri="{BB962C8B-B14F-4D97-AF65-F5344CB8AC3E}">
        <p14:creationId xmlns:p14="http://schemas.microsoft.com/office/powerpoint/2010/main" val="3163700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88B01623-3186-2DAD-B357-CA2079664D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930" t="12127" r="33114" b="4497"/>
          <a:stretch>
            <a:fillRect/>
          </a:stretch>
        </p:blipFill>
        <p:spPr>
          <a:xfrm>
            <a:off x="4359436" y="1458097"/>
            <a:ext cx="3796024" cy="50914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F38031-9789-EDD2-4461-5A70D422CCD4}"/>
              </a:ext>
            </a:extLst>
          </p:cNvPr>
          <p:cNvSpPr txBox="1"/>
          <p:nvPr/>
        </p:nvSpPr>
        <p:spPr>
          <a:xfrm>
            <a:off x="317499" y="308429"/>
            <a:ext cx="864114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/>
              <a:t>New User/ Registration Screen</a:t>
            </a:r>
          </a:p>
        </p:txBody>
      </p:sp>
    </p:spTree>
    <p:extLst>
      <p:ext uri="{BB962C8B-B14F-4D97-AF65-F5344CB8AC3E}">
        <p14:creationId xmlns:p14="http://schemas.microsoft.com/office/powerpoint/2010/main" val="360626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in screen with a logo and a sign in&#10;&#10;AI-generated content may be incorrect.">
            <a:extLst>
              <a:ext uri="{FF2B5EF4-FFF2-40B4-BE49-F238E27FC236}">
                <a16:creationId xmlns:a16="http://schemas.microsoft.com/office/drawing/2014/main" id="{0D74AA36-AE48-8D65-C422-5ACB6B38D9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67" t="13204" r="32906" b="7459"/>
          <a:stretch>
            <a:fillRect/>
          </a:stretch>
        </p:blipFill>
        <p:spPr>
          <a:xfrm>
            <a:off x="4312507" y="1295308"/>
            <a:ext cx="3874485" cy="50511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3D040E-7BD3-77D3-A57A-79493B1721D3}"/>
              </a:ext>
            </a:extLst>
          </p:cNvPr>
          <p:cNvSpPr txBox="1"/>
          <p:nvPr/>
        </p:nvSpPr>
        <p:spPr>
          <a:xfrm>
            <a:off x="317500" y="308429"/>
            <a:ext cx="560138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/>
              <a:t>Home/Login Screen</a:t>
            </a:r>
          </a:p>
        </p:txBody>
      </p:sp>
    </p:spTree>
    <p:extLst>
      <p:ext uri="{BB962C8B-B14F-4D97-AF65-F5344CB8AC3E}">
        <p14:creationId xmlns:p14="http://schemas.microsoft.com/office/powerpoint/2010/main" val="3776248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D102BB-0E27-CECF-4CBE-5E8D0B10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602" y="1581665"/>
            <a:ext cx="7330796" cy="46447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89BBC1-9719-01F3-7657-730A4DAAF1E7}"/>
              </a:ext>
            </a:extLst>
          </p:cNvPr>
          <p:cNvSpPr txBox="1"/>
          <p:nvPr/>
        </p:nvSpPr>
        <p:spPr>
          <a:xfrm>
            <a:off x="317500" y="308429"/>
            <a:ext cx="439964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3632037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6EAA1-0E8A-74A1-03BC-D61320FD2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057" y="328839"/>
            <a:ext cx="10515600" cy="808492"/>
          </a:xfrm>
        </p:spPr>
        <p:txBody>
          <a:bodyPr>
            <a:normAutofit/>
          </a:bodyPr>
          <a:lstStyle/>
          <a:p>
            <a:r>
              <a:rPr lang="en-US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506AE-58E2-AA69-20FF-941A813C1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33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Sidebar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In the future we want to have a sidebar on the dashboard which will show various menus that we plan to add, such as receipt scanning, budget suggestions, and settings. </a:t>
            </a:r>
          </a:p>
          <a:p>
            <a:r>
              <a:rPr lang="en-US"/>
              <a:t>Dark Theme/Accessibility Features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We would like to make the Dollar Doodle web app more accessible by creating a dark theme that </a:t>
            </a:r>
            <a:r>
              <a:rPr lang="en-US"/>
              <a:t>synchronizes</a:t>
            </a:r>
            <a:r>
              <a:rPr lang="en-US" dirty="0"/>
              <a:t> with the time of day, and that users with vision impairments can select to best navigate the app.</a:t>
            </a:r>
          </a:p>
        </p:txBody>
      </p:sp>
    </p:spTree>
    <p:extLst>
      <p:ext uri="{BB962C8B-B14F-4D97-AF65-F5344CB8AC3E}">
        <p14:creationId xmlns:p14="http://schemas.microsoft.com/office/powerpoint/2010/main" val="2078835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6C270-5D39-76D9-866E-0C7A90C45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26920C1-4990-99D6-89DB-980FB29F7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33B199-D613-0620-CC23-6193111B7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31018AAD-B670-8A47-80C6-ECCAE1E95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6BE9978-5503-748B-E96E-1E3732202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5D55E1-1948-13B8-934D-FC0D58784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9B72C3-55F1-2C4F-6D0C-1F2CC3744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EA8D6A0-4A23-275B-65F2-9ACE5B9C5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9 Best Front-End Coding Languages to Learn - App Academy">
            <a:extLst>
              <a:ext uri="{FF2B5EF4-FFF2-40B4-BE49-F238E27FC236}">
                <a16:creationId xmlns:a16="http://schemas.microsoft.com/office/drawing/2014/main" id="{C7008432-2922-4B5A-F978-AA3D70ACC34C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</a:blip>
          <a:srcRect t="233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EB238-D93C-8BBE-9A66-13700273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chemeClr val="tx1"/>
                </a:solidFill>
              </a:rPr>
              <a:t>Back-end</a:t>
            </a:r>
            <a:r>
              <a:rPr lang="en-US" sz="7200">
                <a:solidFill>
                  <a:schemeClr val="tx1"/>
                </a:solidFill>
              </a:rPr>
              <a:t> </a:t>
            </a:r>
            <a:r>
              <a:rPr lang="en-US" sz="440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ABFF0-7EF7-A6B6-7CB1-909E8AC30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5" y="4777380"/>
            <a:ext cx="8825658" cy="8614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>
                <a:solidFill>
                  <a:schemeClr val="tx1"/>
                </a:solidFill>
              </a:rPr>
              <a:t>The Back-end was implemented using MYSQL, </a:t>
            </a:r>
            <a:r>
              <a:rPr lang="en-US" sz="1900" err="1">
                <a:solidFill>
                  <a:schemeClr val="tx1"/>
                </a:solidFill>
              </a:rPr>
              <a:t>DBEaver</a:t>
            </a:r>
            <a:r>
              <a:rPr lang="en-US" sz="1900">
                <a:solidFill>
                  <a:schemeClr val="tx1"/>
                </a:solidFill>
              </a:rPr>
              <a:t>, and Node.js.</a:t>
            </a:r>
          </a:p>
          <a:p>
            <a:r>
              <a:rPr lang="en-US" sz="1900">
                <a:solidFill>
                  <a:schemeClr val="tx1"/>
                </a:solidFill>
              </a:rPr>
              <a:t>We will implement the </a:t>
            </a:r>
            <a:r>
              <a:rPr lang="en-US" sz="1900" err="1">
                <a:solidFill>
                  <a:schemeClr val="tx1"/>
                </a:solidFill>
              </a:rPr>
              <a:t>veryfi</a:t>
            </a:r>
            <a:r>
              <a:rPr lang="en-US" sz="1900">
                <a:solidFill>
                  <a:schemeClr val="tx1"/>
                </a:solidFill>
              </a:rPr>
              <a:t> </a:t>
            </a:r>
            <a:r>
              <a:rPr lang="en-US" sz="1900" err="1">
                <a:solidFill>
                  <a:schemeClr val="tx1"/>
                </a:solidFill>
              </a:rPr>
              <a:t>api</a:t>
            </a:r>
            <a:r>
              <a:rPr lang="en-US" sz="1900">
                <a:solidFill>
                  <a:schemeClr val="tx1"/>
                </a:solidFill>
              </a:rPr>
              <a:t> in the future as well.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C80FAA-0F59-64A8-39AB-CEAB52DBC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12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E6A2-0D33-098D-6B27-79F02E3BA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29" y="141588"/>
            <a:ext cx="10515600" cy="945742"/>
          </a:xfrm>
        </p:spPr>
        <p:txBody>
          <a:bodyPr>
            <a:normAutofit/>
          </a:bodyPr>
          <a:lstStyle/>
          <a:p>
            <a:r>
              <a:rPr lang="en-US" sz="4400"/>
              <a:t>Database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E4FB1-58C3-5FD6-FA0C-7AF5B9249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8517" y="937611"/>
            <a:ext cx="11764432" cy="5790982"/>
          </a:xfrm>
        </p:spPr>
        <p:txBody>
          <a:bodyPr vert="horz" lIns="91440" tIns="45720" rIns="91440" bIns="45720" rtlCol="0" anchor="t">
            <a:normAutofit fontScale="40000" lnSpcReduction="20000"/>
          </a:bodyPr>
          <a:lstStyle/>
          <a:p>
            <a:endParaRPr lang="en-US" sz="6000">
              <a:solidFill>
                <a:srgbClr val="FF0000"/>
              </a:solidFill>
              <a:latin typeface="+mn-lt"/>
              <a:cs typeface="Times New Roman"/>
            </a:endParaRPr>
          </a:p>
          <a:p>
            <a:r>
              <a:rPr lang="en-US" sz="6000">
                <a:solidFill>
                  <a:schemeClr val="tx1"/>
                </a:solidFill>
                <a:latin typeface="+mn-lt"/>
                <a:ea typeface="+mn-lt"/>
                <a:cs typeface="Times New Roman"/>
              </a:rPr>
              <a:t>A relational MySQL database designed to power a smart expense</a:t>
            </a:r>
          </a:p>
          <a:p>
            <a:r>
              <a:rPr lang="en-US" sz="6000">
                <a:solidFill>
                  <a:schemeClr val="tx1"/>
                </a:solidFill>
                <a:latin typeface="+mn-lt"/>
                <a:ea typeface="+mn-lt"/>
                <a:cs typeface="Times New Roman"/>
              </a:rPr>
              <a:t> tracking application with 8 interconnected tables.</a:t>
            </a:r>
            <a:endParaRPr lang="en-US" sz="6000">
              <a:solidFill>
                <a:schemeClr val="tx1"/>
              </a:solidFill>
              <a:latin typeface="+mn-lt"/>
              <a:cs typeface="Times New Roman"/>
            </a:endParaRPr>
          </a:p>
          <a:p>
            <a:endParaRPr lang="en-US" sz="6000">
              <a:solidFill>
                <a:schemeClr val="tx1"/>
              </a:solidFill>
              <a:latin typeface="+mn-lt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6000">
                <a:solidFill>
                  <a:schemeClr val="tx1"/>
                </a:solidFill>
                <a:latin typeface="+mn-lt"/>
                <a:ea typeface="+mn-lt"/>
                <a:cs typeface="Times New Roman"/>
              </a:rPr>
              <a:t>Database: MySQL.</a:t>
            </a:r>
            <a:endParaRPr lang="en-US" sz="6000">
              <a:solidFill>
                <a:schemeClr val="tx1"/>
              </a:solidFill>
              <a:latin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6000">
                <a:solidFill>
                  <a:schemeClr val="tx1"/>
                </a:solidFill>
                <a:latin typeface="+mn-lt"/>
                <a:ea typeface="+mn-lt"/>
                <a:cs typeface="Times New Roman"/>
              </a:rPr>
              <a:t>Tables: 8.</a:t>
            </a:r>
            <a:endParaRPr lang="en-US" sz="6000">
              <a:solidFill>
                <a:schemeClr val="tx1"/>
              </a:solidFill>
              <a:latin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6000">
                <a:solidFill>
                  <a:schemeClr val="tx1"/>
                </a:solidFill>
                <a:latin typeface="+mn-lt"/>
                <a:ea typeface="+mn-lt"/>
                <a:cs typeface="Times New Roman"/>
              </a:rPr>
              <a:t>Relationships: One-to-Many.</a:t>
            </a:r>
            <a:endParaRPr lang="en-US" sz="6000">
              <a:solidFill>
                <a:schemeClr val="tx1"/>
              </a:solidFill>
              <a:latin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6000">
                <a:solidFill>
                  <a:schemeClr val="tx1"/>
                </a:solidFill>
                <a:latin typeface="+mn-lt"/>
                <a:ea typeface="+mn-lt"/>
                <a:cs typeface="Times New Roman"/>
              </a:rPr>
              <a:t>Indexes: 15+ for performance.</a:t>
            </a:r>
            <a:endParaRPr lang="en-US" sz="6000">
              <a:solidFill>
                <a:schemeClr val="tx1"/>
              </a:solidFill>
              <a:latin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6000">
                <a:solidFill>
                  <a:schemeClr val="tx1"/>
                </a:solidFill>
                <a:latin typeface="+mn-lt"/>
                <a:ea typeface="+mn-lt"/>
                <a:cs typeface="Times New Roman"/>
              </a:rPr>
              <a:t>Constraints: Data validation rules.</a:t>
            </a:r>
            <a:endParaRPr lang="en-US" sz="6000">
              <a:solidFill>
                <a:schemeClr val="tx1"/>
              </a:solidFill>
              <a:latin typeface="+mn-lt"/>
              <a:cs typeface="Times New Roman"/>
            </a:endParaRPr>
          </a:p>
          <a:p>
            <a:endParaRPr lang="en-US">
              <a:solidFill>
                <a:schemeClr val="tx1"/>
              </a:solidFill>
              <a:latin typeface="+mn-lt"/>
            </a:endParaRPr>
          </a:p>
          <a:p>
            <a:r>
              <a:rPr lang="en-US" sz="6000">
                <a:solidFill>
                  <a:schemeClr val="tx1"/>
                </a:solidFill>
                <a:latin typeface="+mn-lt"/>
                <a:ea typeface="+mn-lt"/>
                <a:cs typeface="Times New Roman"/>
              </a:rPr>
              <a:t>This database is the foundation that makes Dollar Doodle</a:t>
            </a:r>
          </a:p>
          <a:p>
            <a:r>
              <a:rPr lang="en-US" sz="6000">
                <a:solidFill>
                  <a:schemeClr val="tx1"/>
                </a:solidFill>
                <a:latin typeface="+mn-lt"/>
                <a:ea typeface="+mn-lt"/>
                <a:cs typeface="Times New Roman"/>
              </a:rPr>
              <a:t> fast, reliable, and ready to help users save money! </a:t>
            </a:r>
            <a:endParaRPr lang="en-US" sz="6000">
              <a:solidFill>
                <a:schemeClr val="tx1"/>
              </a:solidFill>
              <a:latin typeface="+mn-lt"/>
              <a:cs typeface="Times New Roman"/>
            </a:endParaRPr>
          </a:p>
          <a:p>
            <a:endParaRPr lang="en-US" sz="6000">
              <a:solidFill>
                <a:srgbClr val="0F1115"/>
              </a:solidFill>
              <a:highlight>
                <a:srgbClr val="FFFFFF"/>
              </a:highlight>
              <a:latin typeface="Aptos"/>
              <a:cs typeface="Times New Roman"/>
            </a:endParaRPr>
          </a:p>
          <a:p>
            <a:endParaRPr lang="en-US" sz="6000">
              <a:latin typeface="Aptos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54869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A72F6-6F29-6BEB-8F95-851BA979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81" y="380460"/>
            <a:ext cx="11397316" cy="609707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900" dirty="0">
                <a:solidFill>
                  <a:schemeClr val="tx1"/>
                </a:solidFill>
                <a:cs typeface="Times New Roman"/>
              </a:rPr>
              <a:t>Parent Tables</a:t>
            </a:r>
            <a:br>
              <a:rPr lang="en-US" sz="2800" b="1" dirty="0">
                <a:solidFill>
                  <a:schemeClr val="tx1"/>
                </a:solidFill>
                <a:latin typeface="Aptos"/>
                <a:ea typeface="+mj-lt"/>
                <a:cs typeface="Times New Roman"/>
              </a:rPr>
            </a:br>
            <a:br>
              <a:rPr lang="en-US" sz="2800" b="1" dirty="0">
                <a:solidFill>
                  <a:schemeClr val="tx1"/>
                </a:solidFill>
                <a:latin typeface="Aptos"/>
                <a:ea typeface="+mj-lt"/>
                <a:cs typeface="Times New Roman"/>
              </a:rPr>
            </a:br>
            <a:r>
              <a:rPr lang="en-US" sz="2800" b="1" dirty="0">
                <a:solidFill>
                  <a:schemeClr val="tx1"/>
                </a:solidFill>
                <a:latin typeface="+mn-lt"/>
                <a:ea typeface="+mj-lt"/>
                <a:cs typeface="Times New Roman"/>
              </a:rPr>
              <a:t>Main Entities:</a:t>
            </a:r>
            <a:br>
              <a:rPr lang="en-US" sz="2800" b="1" dirty="0">
                <a:solidFill>
                  <a:schemeClr val="tx1"/>
                </a:solidFill>
                <a:latin typeface="+mn-lt"/>
                <a:ea typeface="+mj-lt"/>
                <a:cs typeface="Times New Roman"/>
              </a:rPr>
            </a:br>
            <a:endParaRPr lang="en-US" sz="2800" dirty="0">
              <a:solidFill>
                <a:schemeClr val="tx1"/>
              </a:solidFill>
              <a:latin typeface="+mn-lt"/>
              <a:cs typeface="Times New Roman"/>
            </a:endParaRPr>
          </a:p>
          <a:p>
            <a:r>
              <a:rPr lang="en-US" sz="2800" b="1" dirty="0">
                <a:solidFill>
                  <a:schemeClr val="tx1"/>
                </a:solidFill>
                <a:latin typeface="+mn-lt"/>
                <a:ea typeface="+mj-lt"/>
                <a:cs typeface="Times New Roman"/>
              </a:rPr>
              <a:t>Users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j-lt"/>
                <a:cs typeface="Times New Roman"/>
              </a:rPr>
              <a:t> - Central table storing user profiles, authentication (email/Google), and account status.</a:t>
            </a:r>
            <a:br>
              <a:rPr lang="en-US" sz="2800" dirty="0">
                <a:solidFill>
                  <a:schemeClr val="tx1"/>
                </a:solidFill>
                <a:latin typeface="+mn-lt"/>
                <a:ea typeface="+mj-lt"/>
                <a:cs typeface="Times New Roman"/>
              </a:rPr>
            </a:br>
            <a:endParaRPr lang="en-US" sz="2800" dirty="0">
              <a:solidFill>
                <a:schemeClr val="tx1"/>
              </a:solidFill>
              <a:latin typeface="+mn-lt"/>
              <a:cs typeface="Times New Roman"/>
            </a:endParaRPr>
          </a:p>
          <a:p>
            <a:r>
              <a:rPr lang="en-US" sz="2800" b="1" dirty="0">
                <a:solidFill>
                  <a:schemeClr val="tx1"/>
                </a:solidFill>
                <a:latin typeface="+mn-lt"/>
                <a:ea typeface="+mj-lt"/>
                <a:cs typeface="Times New Roman"/>
              </a:rPr>
              <a:t>Categories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j-lt"/>
                <a:cs typeface="Times New Roman"/>
              </a:rPr>
              <a:t> - Predefined expense categories like Food &amp; Dining, Transportation, Entertainment with budget percentages.</a:t>
            </a:r>
            <a:br>
              <a:rPr lang="en-US" sz="2800" dirty="0">
                <a:solidFill>
                  <a:schemeClr val="tx1"/>
                </a:solidFill>
                <a:latin typeface="+mn-lt"/>
                <a:ea typeface="+mj-lt"/>
                <a:cs typeface="Times New Roman"/>
              </a:rPr>
            </a:br>
            <a:endParaRPr lang="en-US" sz="2800" dirty="0">
              <a:solidFill>
                <a:schemeClr val="tx1"/>
              </a:solidFill>
              <a:latin typeface="+mn-lt"/>
              <a:cs typeface="Times New Roman"/>
            </a:endParaRPr>
          </a:p>
          <a:p>
            <a:r>
              <a:rPr lang="en-US" sz="2800" b="1" dirty="0">
                <a:solidFill>
                  <a:schemeClr val="tx1"/>
                </a:solidFill>
                <a:latin typeface="+mn-lt"/>
                <a:ea typeface="+mj-lt"/>
                <a:cs typeface="Times New Roman"/>
              </a:rPr>
              <a:t>Expenses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j-lt"/>
                <a:cs typeface="Times New Roman"/>
              </a:rPr>
              <a:t> - Tracks all user transactions with amounts, dates, and receipt images.</a:t>
            </a:r>
            <a:br>
              <a:rPr lang="en-US" sz="2800" dirty="0">
                <a:solidFill>
                  <a:schemeClr val="tx1"/>
                </a:solidFill>
                <a:latin typeface="+mn-lt"/>
                <a:ea typeface="+mj-lt"/>
                <a:cs typeface="Times New Roman"/>
              </a:rPr>
            </a:br>
            <a:endParaRPr lang="en-US" sz="2800" dirty="0">
              <a:solidFill>
                <a:schemeClr val="tx1"/>
              </a:solidFill>
              <a:latin typeface="+mn-lt"/>
              <a:cs typeface="Times New Roman"/>
            </a:endParaRPr>
          </a:p>
          <a:p>
            <a:r>
              <a:rPr lang="en-US" sz="2800" b="1" dirty="0">
                <a:solidFill>
                  <a:schemeClr val="tx1"/>
                </a:solidFill>
                <a:latin typeface="+mn-lt"/>
                <a:ea typeface="+mj-lt"/>
                <a:cs typeface="Times New Roman"/>
              </a:rPr>
              <a:t>Income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j-lt"/>
                <a:cs typeface="Times New Roman"/>
              </a:rPr>
              <a:t> - Manages various income sources (Salary, Freelance, Investments) with recurring options.</a:t>
            </a:r>
            <a:endParaRPr lang="en-US" sz="2800" dirty="0">
              <a:solidFill>
                <a:schemeClr val="tx1"/>
              </a:solidFill>
              <a:latin typeface="+mn-lt"/>
              <a:cs typeface="Times New Roman"/>
            </a:endParaRPr>
          </a:p>
          <a:p>
            <a:endParaRPr 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635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63E2-3714-01E7-F4CD-A08E6FC7C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89" y="1738552"/>
            <a:ext cx="11737218" cy="3961230"/>
          </a:xfrm>
        </p:spPr>
        <p:txBody>
          <a:bodyPr>
            <a:normAutofit/>
          </a:bodyPr>
          <a:lstStyle/>
          <a:p>
            <a:endParaRPr lang="en-US" sz="2800" dirty="0">
              <a:latin typeface="Aptos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F8470F-C849-D933-1BA0-30A94022C473}"/>
              </a:ext>
            </a:extLst>
          </p:cNvPr>
          <p:cNvSpPr txBox="1"/>
          <p:nvPr/>
        </p:nvSpPr>
        <p:spPr>
          <a:xfrm>
            <a:off x="662152" y="400523"/>
            <a:ext cx="10617182" cy="42319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latin typeface="+mj-lt"/>
              </a:rPr>
              <a:t>Child Tables </a:t>
            </a:r>
          </a:p>
          <a:p>
            <a:endParaRPr lang="en-US" sz="2500" b="1" dirty="0">
              <a:latin typeface="Aptos" panose="020B0004020202020204" pitchFamily="34" charset="0"/>
            </a:endParaRPr>
          </a:p>
          <a:p>
            <a:endParaRPr lang="en-US" sz="2500" b="1" dirty="0">
              <a:latin typeface="Aptos" panose="020B0004020202020204" pitchFamily="34" charset="0"/>
            </a:endParaRPr>
          </a:p>
          <a:p>
            <a:r>
              <a:rPr lang="en-US" sz="2500" b="1" dirty="0"/>
              <a:t>Budget Suggestions</a:t>
            </a:r>
            <a:r>
              <a:rPr lang="en-US" sz="2500" dirty="0"/>
              <a:t>  – Provides personalized financial advice</a:t>
            </a:r>
            <a:endParaRPr lang="en-US" dirty="0"/>
          </a:p>
          <a:p>
            <a:endParaRPr lang="en-US" sz="2500" dirty="0"/>
          </a:p>
          <a:p>
            <a:r>
              <a:rPr lang="en-US" sz="2500" b="1" dirty="0"/>
              <a:t>Receipts</a:t>
            </a:r>
            <a:r>
              <a:rPr lang="en-US" sz="2500" dirty="0"/>
              <a:t>  – Stores proof of expenses/receipts with image URLs</a:t>
            </a:r>
          </a:p>
          <a:p>
            <a:endParaRPr lang="en-US" sz="2500" dirty="0"/>
          </a:p>
          <a:p>
            <a:r>
              <a:rPr lang="en-US" sz="2500" b="1" dirty="0"/>
              <a:t>User Feedback</a:t>
            </a:r>
            <a:r>
              <a:rPr lang="en-US" sz="2500" dirty="0"/>
              <a:t>  – System collects bug reports and suggestions</a:t>
            </a:r>
          </a:p>
          <a:p>
            <a:endParaRPr lang="en-US" sz="2500" dirty="0"/>
          </a:p>
          <a:p>
            <a:r>
              <a:rPr lang="en-US" sz="2500" b="1" dirty="0"/>
              <a:t>Recurring Income </a:t>
            </a:r>
            <a:r>
              <a:rPr lang="en-US" sz="2500" dirty="0"/>
              <a:t>–</a:t>
            </a:r>
            <a:r>
              <a:rPr lang="en-US" sz="2500" b="1" dirty="0"/>
              <a:t> </a:t>
            </a:r>
            <a:r>
              <a:rPr lang="en-US" sz="2500" dirty="0"/>
              <a:t>Tracking for regular payments</a:t>
            </a:r>
          </a:p>
        </p:txBody>
      </p:sp>
    </p:spTree>
    <p:extLst>
      <p:ext uri="{BB962C8B-B14F-4D97-AF65-F5344CB8AC3E}">
        <p14:creationId xmlns:p14="http://schemas.microsoft.com/office/powerpoint/2010/main" val="2945726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9F2B-072A-150F-DBA1-6F17CF28E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272" y="152533"/>
            <a:ext cx="5608771" cy="64338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kern="1200">
                <a:latin typeface="+mj-lt"/>
                <a:ea typeface="+mj-ea"/>
                <a:cs typeface="+mj-cs"/>
              </a:rPr>
              <a:t>Back-end </a:t>
            </a:r>
            <a:r>
              <a:rPr lang="en-US" sz="4400"/>
              <a:t>Design</a:t>
            </a:r>
            <a:endParaRPr lang="en-US" sz="4400" kern="120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0B44A7-11F9-ECA4-0469-143DCC18A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90" y="805692"/>
            <a:ext cx="12185349" cy="604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646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dashboard">
            <a:extLst>
              <a:ext uri="{FF2B5EF4-FFF2-40B4-BE49-F238E27FC236}">
                <a16:creationId xmlns:a16="http://schemas.microsoft.com/office/drawing/2014/main" id="{DE7A6563-DB15-773A-7127-302E2E4158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" y="0"/>
            <a:ext cx="12192001" cy="687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104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57400-5F66-3E90-23DB-736D4B1A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19402B2-5665-CD68-5587-4970D46EB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A6FC8E-C14C-99CE-8864-D0651EDC6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3B0A0951-5E6C-B6E7-69BA-B6D33C430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DB701E-E7E3-45AD-53C1-F4E013DEE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5926D78-0A2D-F218-FA70-12033AF77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48B568A-58DE-FEE3-B555-A89F00572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C205869-1ABE-F753-3CA9-55163A954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9 Best Front-End Coding Languages to Learn - App Academy">
            <a:extLst>
              <a:ext uri="{FF2B5EF4-FFF2-40B4-BE49-F238E27FC236}">
                <a16:creationId xmlns:a16="http://schemas.microsoft.com/office/drawing/2014/main" id="{7EAE2297-50D3-64B4-795A-C7A41DDD613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rcRect t="233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7B85D4-175B-213E-9B01-4E534F0EC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chemeClr val="tx1"/>
                </a:solidFill>
              </a:rPr>
              <a:t>Timeline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C2285C-6EA3-1D8A-C782-2819B4C13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97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BA3CE-8233-657A-37F4-63070A6C7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135" y="389973"/>
            <a:ext cx="10515600" cy="1325563"/>
          </a:xfrm>
        </p:spPr>
        <p:txBody>
          <a:bodyPr/>
          <a:lstStyle/>
          <a:p>
            <a:pPr algn="ctr"/>
            <a:r>
              <a:rPr lang="en-US"/>
              <a:t>Timeline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8304121-8A02-5596-6586-05927EA843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150" y="1332186"/>
            <a:ext cx="10104604" cy="467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984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378CFA-F362-9AB9-BDCA-FBDDB5A21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948097"/>
            <a:ext cx="10905066" cy="496180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8769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C1275-6E7B-30DD-0214-C0732DD8C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45" y="349024"/>
            <a:ext cx="10515600" cy="817714"/>
          </a:xfrm>
        </p:spPr>
        <p:txBody>
          <a:bodyPr>
            <a:normAutofit/>
          </a:bodyPr>
          <a:lstStyle/>
          <a:p>
            <a:r>
              <a:rPr lang="en-US" sz="440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917B3-8F25-B2FE-00E3-AFB6D6E60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3945" y="1577749"/>
            <a:ext cx="10515600" cy="430325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cap="none" dirty="0">
                <a:solidFill>
                  <a:schemeClr val="tx1"/>
                </a:solidFill>
                <a:latin typeface="Aptos"/>
                <a:ea typeface="+mn-lt"/>
                <a:cs typeface="Times New Roman"/>
              </a:rPr>
              <a:t>Dollar doodle is more than just a personal finance app; it is a comprehensive tool designed to help users take control of their financial lives. </a:t>
            </a:r>
            <a:endParaRPr lang="en-US" cap="none">
              <a:solidFill>
                <a:schemeClr val="tx1"/>
              </a:solidFill>
              <a:latin typeface="Aptos"/>
              <a:ea typeface="+mn-lt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cap="none" dirty="0">
                <a:solidFill>
                  <a:schemeClr val="tx1"/>
                </a:solidFill>
                <a:latin typeface="Aptos"/>
                <a:ea typeface="+mn-lt"/>
                <a:cs typeface="Times New Roman"/>
              </a:rPr>
              <a:t>With its user-friendly interface, powerful features, and ai-driven insights, Dollar Doodle makes managing finances accessible and efficient. </a:t>
            </a:r>
            <a:endParaRPr lang="en-US" cap="none">
              <a:solidFill>
                <a:schemeClr val="tx1"/>
              </a:solidFill>
              <a:latin typeface="Aptos"/>
              <a:ea typeface="+mn-lt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cap="none" dirty="0">
                <a:solidFill>
                  <a:schemeClr val="tx1"/>
                </a:solidFill>
                <a:latin typeface="Aptos"/>
                <a:ea typeface="+mn-lt"/>
                <a:cs typeface="Times New Roman"/>
              </a:rPr>
              <a:t>Whether you are looking to track your spending, set budgets, or receive personalized saving tips, Dollar Doodle is your go-to solution for achieving financial wellness.</a:t>
            </a:r>
            <a:endParaRPr lang="en-US" cap="none" dirty="0">
              <a:solidFill>
                <a:schemeClr val="tx1"/>
              </a:solidFill>
              <a:latin typeface="Aptos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9855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CFCFD-958D-5EB7-4D6B-24F4E5D2B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cs typeface="Times New Roman" panose="02020603050405020304" pitchFamily="18" charset="0"/>
              </a:rPr>
              <a:t>Team Responsibilities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D0D190-26FA-B607-612A-3AFDA829AC26}"/>
              </a:ext>
            </a:extLst>
          </p:cNvPr>
          <p:cNvGrpSpPr/>
          <p:nvPr/>
        </p:nvGrpSpPr>
        <p:grpSpPr>
          <a:xfrm>
            <a:off x="4240856" y="1888860"/>
            <a:ext cx="3710285" cy="1540140"/>
            <a:chOff x="2716857" y="10504"/>
            <a:chExt cx="3710285" cy="222617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83C729-DD4F-25C2-E192-A074152F1504}"/>
                </a:ext>
              </a:extLst>
            </p:cNvPr>
            <p:cNvSpPr/>
            <p:nvPr/>
          </p:nvSpPr>
          <p:spPr>
            <a:xfrm>
              <a:off x="2716857" y="10504"/>
              <a:ext cx="3710285" cy="222617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85338D7-8472-81F1-F35A-8C0D41FBF8FE}"/>
                </a:ext>
              </a:extLst>
            </p:cNvPr>
            <p:cNvSpPr txBox="1"/>
            <p:nvPr/>
          </p:nvSpPr>
          <p:spPr>
            <a:xfrm>
              <a:off x="2716857" y="10504"/>
              <a:ext cx="3710285" cy="22261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dirty="0">
                  <a:solidFill>
                    <a:schemeClr val="bg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Alex Hildreth</a:t>
              </a:r>
            </a:p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0" kern="1200" dirty="0">
                  <a:solidFill>
                    <a:prstClr val="white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Project Manager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200C015-36CA-478B-E33F-5E8076958465}"/>
              </a:ext>
            </a:extLst>
          </p:cNvPr>
          <p:cNvGrpSpPr/>
          <p:nvPr/>
        </p:nvGrpSpPr>
        <p:grpSpPr>
          <a:xfrm>
            <a:off x="6253832" y="3840584"/>
            <a:ext cx="3710285" cy="1646189"/>
            <a:chOff x="4747682" y="2479862"/>
            <a:chExt cx="3710285" cy="222617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802B0FC-28BA-002B-37E3-9B9FC6DAB110}"/>
                </a:ext>
              </a:extLst>
            </p:cNvPr>
            <p:cNvSpPr/>
            <p:nvPr/>
          </p:nvSpPr>
          <p:spPr>
            <a:xfrm>
              <a:off x="4747682" y="2479862"/>
              <a:ext cx="3710285" cy="222617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1654278"/>
                <a:satOff val="-8885"/>
                <a:lumOff val="3039"/>
                <a:alphaOff val="0"/>
              </a:schemeClr>
            </a:fillRef>
            <a:effectRef idx="0">
              <a:schemeClr val="accent5">
                <a:hueOff val="-1654278"/>
                <a:satOff val="-8885"/>
                <a:lumOff val="3039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F86F95-D9D8-1EBE-7C14-A6CB8E1449EE}"/>
                </a:ext>
              </a:extLst>
            </p:cNvPr>
            <p:cNvSpPr txBox="1"/>
            <p:nvPr/>
          </p:nvSpPr>
          <p:spPr>
            <a:xfrm>
              <a:off x="4747682" y="2479862"/>
              <a:ext cx="3710285" cy="22261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err="1">
                  <a:solidFill>
                    <a:prstClr val="black"/>
                  </a:solidFill>
                  <a:latin typeface="Times New Roman"/>
                  <a:cs typeface="Times New Roman"/>
                </a:rPr>
                <a:t>Roumaysae</a:t>
              </a:r>
              <a:r>
                <a:rPr lang="en-US" sz="2800" b="1" kern="1200">
                  <a:solidFill>
                    <a:prstClr val="black"/>
                  </a:solidFill>
                  <a:latin typeface="Times New Roman"/>
                  <a:cs typeface="Times New Roman"/>
                </a:rPr>
                <a:t> </a:t>
              </a:r>
              <a:r>
                <a:rPr lang="en-US" sz="2800" b="1" kern="1200" err="1">
                  <a:solidFill>
                    <a:prstClr val="black"/>
                  </a:solidFill>
                  <a:latin typeface="Times New Roman"/>
                  <a:cs typeface="Times New Roman"/>
                </a:rPr>
                <a:t>Jerari</a:t>
              </a:r>
            </a:p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>
                  <a:solidFill>
                    <a:prstClr val="black"/>
                  </a:solidFill>
                  <a:latin typeface="Times New Roman"/>
                  <a:cs typeface="Times New Roman"/>
                </a:rPr>
                <a:t>Eva </a:t>
              </a:r>
              <a:r>
                <a:rPr lang="en-US" sz="2800" b="1" kern="1200" err="1">
                  <a:solidFill>
                    <a:prstClr val="black"/>
                  </a:solidFill>
                  <a:latin typeface="Times New Roman"/>
                  <a:cs typeface="Times New Roman"/>
                </a:rPr>
                <a:t>Buesse</a:t>
              </a:r>
            </a:p>
            <a:p>
              <a:pPr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b="0" kern="1200">
                  <a:solidFill>
                    <a:prstClr val="white"/>
                  </a:solidFill>
                  <a:latin typeface="Times New Roman"/>
                  <a:cs typeface="Times New Roman"/>
                </a:rPr>
                <a:t> </a:t>
              </a:r>
              <a:r>
                <a:rPr lang="en-US" sz="2400">
                  <a:solidFill>
                    <a:prstClr val="white"/>
                  </a:solidFill>
                  <a:latin typeface="Times New Roman"/>
                  <a:cs typeface="Times New Roman"/>
                </a:rPr>
                <a:t>Back End Design</a:t>
              </a:r>
              <a:endParaRPr lang="en-US" sz="2400" b="0" kern="120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8B2BCC7-492A-2F5D-3F0C-3A41962A8E27}"/>
              </a:ext>
            </a:extLst>
          </p:cNvPr>
          <p:cNvGrpSpPr/>
          <p:nvPr/>
        </p:nvGrpSpPr>
        <p:grpSpPr>
          <a:xfrm>
            <a:off x="2227883" y="3840584"/>
            <a:ext cx="3710285" cy="1646189"/>
            <a:chOff x="635016" y="2530500"/>
            <a:chExt cx="3710285" cy="222617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FF0013-40A3-D6EB-145E-8D28BEC13B7B}"/>
                </a:ext>
              </a:extLst>
            </p:cNvPr>
            <p:cNvSpPr/>
            <p:nvPr/>
          </p:nvSpPr>
          <p:spPr>
            <a:xfrm>
              <a:off x="635016" y="2530500"/>
              <a:ext cx="3710285" cy="222617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3308557"/>
                <a:satOff val="-17770"/>
                <a:lumOff val="6078"/>
                <a:alphaOff val="0"/>
              </a:schemeClr>
            </a:fillRef>
            <a:effectRef idx="0">
              <a:schemeClr val="accent5">
                <a:hueOff val="-3308557"/>
                <a:satOff val="-17770"/>
                <a:lumOff val="6078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CC887C-C0B1-00E1-E8F1-869679641A1A}"/>
                </a:ext>
              </a:extLst>
            </p:cNvPr>
            <p:cNvSpPr txBox="1"/>
            <p:nvPr/>
          </p:nvSpPr>
          <p:spPr>
            <a:xfrm>
              <a:off x="635016" y="2530500"/>
              <a:ext cx="3710285" cy="22261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dirty="0">
                  <a:solidFill>
                    <a:prstClr val="black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Nick Schott</a:t>
              </a:r>
            </a:p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dirty="0">
                  <a:solidFill>
                    <a:prstClr val="black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Daniel Austin</a:t>
              </a:r>
            </a:p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0" kern="1200" dirty="0">
                  <a:solidFill>
                    <a:prstClr val="white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Front End Development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7ED3EB9-872A-1FFC-3B58-A6B736C98A20}"/>
              </a:ext>
            </a:extLst>
          </p:cNvPr>
          <p:cNvSpPr txBox="1"/>
          <p:nvPr/>
        </p:nvSpPr>
        <p:spPr>
          <a:xfrm>
            <a:off x="2864069" y="5954325"/>
            <a:ext cx="6463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Contact Us: dollardoodledev@gmail.com</a:t>
            </a:r>
          </a:p>
        </p:txBody>
      </p:sp>
    </p:spTree>
    <p:extLst>
      <p:ext uri="{BB962C8B-B14F-4D97-AF65-F5344CB8AC3E}">
        <p14:creationId xmlns:p14="http://schemas.microsoft.com/office/powerpoint/2010/main" val="10734444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720</Words>
  <Application>Microsoft Macintosh PowerPoint</Application>
  <PresentationFormat>Widescreen</PresentationFormat>
  <Paragraphs>105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Arial</vt:lpstr>
      <vt:lpstr>Calibri</vt:lpstr>
      <vt:lpstr>Century Gothic</vt:lpstr>
      <vt:lpstr>Courier New</vt:lpstr>
      <vt:lpstr>Times New Roman</vt:lpstr>
      <vt:lpstr>Wingdings</vt:lpstr>
      <vt:lpstr>Wingdings 3</vt:lpstr>
      <vt:lpstr>Ion</vt:lpstr>
      <vt:lpstr>PowerPoint Presentation</vt:lpstr>
      <vt:lpstr>Overview</vt:lpstr>
      <vt:lpstr>Core Functionality</vt:lpstr>
      <vt:lpstr>Front-end Design</vt:lpstr>
      <vt:lpstr>PowerPoint Presentation</vt:lpstr>
      <vt:lpstr>PowerPoint Presentation</vt:lpstr>
      <vt:lpstr>PowerPoint Presentation</vt:lpstr>
      <vt:lpstr>PowerPoint Presentation</vt:lpstr>
      <vt:lpstr>Future Improvements</vt:lpstr>
      <vt:lpstr>Back-end Design</vt:lpstr>
      <vt:lpstr>Database Design</vt:lpstr>
      <vt:lpstr>Parent Tables  Main Entities:  Users - Central table storing user profiles, authentication (email/Google), and account status.  Categories - Predefined expense categories like Food &amp; Dining, Transportation, Entertainment with budget percentages.  Expenses - Tracks all user transactions with amounts, dates, and receipt images.  Income - Manages various income sources (Salary, Freelance, Investments) with recurring options. </vt:lpstr>
      <vt:lpstr> </vt:lpstr>
      <vt:lpstr>Back-end Design</vt:lpstr>
      <vt:lpstr>PowerPoint Presentation</vt:lpstr>
      <vt:lpstr>Timeline</vt:lpstr>
      <vt:lpstr>Timeline</vt:lpstr>
      <vt:lpstr>PowerPoint Presentation</vt:lpstr>
      <vt:lpstr>Conclusion</vt:lpstr>
      <vt:lpstr>Team Responsibilities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Austin</dc:creator>
  <cp:lastModifiedBy>Daniel Austin</cp:lastModifiedBy>
  <cp:revision>2</cp:revision>
  <dcterms:created xsi:type="dcterms:W3CDTF">2026-03-09T20:05:25Z</dcterms:created>
  <dcterms:modified xsi:type="dcterms:W3CDTF">2026-03-22T22:33:33Z</dcterms:modified>
</cp:coreProperties>
</file>