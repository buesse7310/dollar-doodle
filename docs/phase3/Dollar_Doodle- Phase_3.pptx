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79" r:id="rId3"/>
    <p:sldId id="277" r:id="rId4"/>
    <p:sldId id="258" r:id="rId5"/>
    <p:sldId id="278" r:id="rId6"/>
    <p:sldId id="265" r:id="rId7"/>
    <p:sldId id="266" r:id="rId8"/>
    <p:sldId id="281" r:id="rId9"/>
    <p:sldId id="260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AB6606-8E37-8B92-026F-133045352B27}" v="49" dt="2026-04-19T21:13:10.729"/>
    <p1510:client id="{CE504B13-03B9-BAC4-A477-0CE0A9BE9624}" v="522" dt="2026-04-19T21:02:25.701"/>
    <p1510:client id="{E0094332-76B3-434E-856E-EFF9931F3531}" v="26" dt="2026-04-20T13:20:56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08"/>
  </p:normalViewPr>
  <p:slideViewPr>
    <p:cSldViewPr snapToGrid="0">
      <p:cViewPr varScale="1">
        <p:scale>
          <a:sx n="151" d="100"/>
          <a:sy n="15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7179F-9BD5-5B4A-9732-82B6F0A838F2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4A83A-D7B7-F74C-80E6-B7ADD29D3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70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9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74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Eva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87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Roma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29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Nick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82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25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6A0E2-DCD7-9A37-F44D-60EBADB5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E5642-A7A4-79EA-8A49-3D8CB80E1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A7CA1-524D-9428-ACD6-F283EF725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1B866-CA9C-50D9-8C0E-E65BA29CC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08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9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E533-13A0-E547-5FEF-7F71CE80A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54F8A-ECB4-0F65-DA7C-37D29ED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FBBB9-B7C0-2EF7-0CDB-B30550AB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DDB98-FF76-9437-9C08-1773B4D6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F233D-BC5D-C15D-AD51-598332614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3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1D21-C0B1-8D65-2BBC-8A387CEC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960E-6487-801E-3081-60501D376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2594-503C-3F3F-856B-38E1AABE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875DA-05AF-86F7-CDCE-EC05BBDD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AE73C-D76D-DE4D-57DB-C55C74E7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1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E465-151F-DBF3-C2F4-C628EBFC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41DDD-91FB-7931-5A15-E498FD45A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E98D9-9EB7-D3F8-689A-2C5EF1F5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7F49E-D4EC-B31E-32FE-6BA4B9A4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0F63A-4B08-C04C-6FFB-8978C689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1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DA25-6855-4A99-3EA8-11B091B4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B6595-AA93-C15C-41D7-C3765E4B6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8FC40-30C3-37A5-0281-F3DB6AE21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556B1-4F18-4FCB-768E-9BA99D2C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06CE-A653-890F-15AD-32FB5B4B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841AF-CA87-53F8-300E-5BA401DE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63CF-477D-C1F6-590D-89713A2B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9DC27-39EF-2A3E-E83C-4E8537553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246C2-5CE8-25E2-3BA2-5F5106910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B9E5B-410D-9902-325C-ADDFD2954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93F17-CF02-AFCE-CA96-F0E0EBD6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A0F11-CB61-2185-9DCE-750D0AB4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E4EA1-E03A-E5CB-B10A-8668E76C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07974-A6E1-5C50-2A3B-A6BF39AE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0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FBEA-DCB5-B935-EC8E-5C849959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1832A-A13F-3913-24C7-273B4DEC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C93D0-308D-2043-2C12-4C15E688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7ED5B-93E4-C2A4-182A-D5E4BFCE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DB490-2D59-5B6A-71E7-EFC10AEC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C741D-DEAB-CCD2-B148-322D90A5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53CF6-0FCF-7B3E-F1BE-CF1AA28F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9CB7-6DFD-F0C1-2A90-096BE155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2701-BED0-F992-DC41-47C192F7C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B3C77-5057-CC92-7B4D-167CB4E4A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66D9D-675A-5444-932F-DC797A11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24575-A25C-4846-98B4-645A3266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9B66C-E199-09D3-276D-BAFCF8E2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B3EF-B34D-F552-3D22-4700A12F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49465-6580-5AB0-06D0-CC7028C17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B71D8-478F-87DA-54BB-5128C968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2F2CC-BA14-CD48-BBA7-15A109107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B6C2C-11EA-243D-0714-13357BCB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8A6AB-FE9B-2A41-2C7D-8211F907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2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ED2E-B065-7007-B4AF-8043D323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57347-2ED3-6340-8D7E-7A51252DB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827CA-311C-0E1D-64FE-86839155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8EC54-7282-46AB-B7A5-A63FD48C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38327-A975-A77C-BB70-DD80A34E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1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7C845-D5FC-76FE-616D-A61C2065A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1A1E-833F-6592-9395-E099C7C67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113A4-4AD6-0DCD-DBC9-073CA9A4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2047F-DE01-488E-BC97-E2F91515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EE376-296B-8E90-E104-C688DFF4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A41AC-A96D-920D-09F0-D579294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925AB-15AA-D1EF-A8B6-07965D51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F5D81-8F7D-8E4E-6160-303EADE67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941C3-6C6E-214E-9FE3-18D5E20230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4C82-77B4-719E-015C-C90A40518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35E9A-EBE5-4FD0-2159-FA1D0EBE7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39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1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3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5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BC44E65-3415-A50B-1AB1-00A12C010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423" y="4543843"/>
            <a:ext cx="5760846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Phase 3 Presentation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72C4B6A-5EF4-0284-5078-F87B2D39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36" y="1391076"/>
            <a:ext cx="4578419" cy="304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9670C-FC32-3137-6DED-159D6944C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4" y="732531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 Reminder of Dollar Doodle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B23E3-498C-D4FE-9B86-3273FD823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This is an innovative personal </a:t>
            </a:r>
            <a:r>
              <a:rPr lang="en-US" sz="2000"/>
              <a:t>finance tracker that...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Helps users keep track of their spending.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Scan in receipts to make inputting transactions quicker.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Give AI suggestions to help the user improve their financial habits.</a:t>
            </a:r>
          </a:p>
        </p:txBody>
      </p:sp>
    </p:spTree>
    <p:extLst>
      <p:ext uri="{BB962C8B-B14F-4D97-AF65-F5344CB8AC3E}">
        <p14:creationId xmlns:p14="http://schemas.microsoft.com/office/powerpoint/2010/main" val="3522322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EF72-D938-7E06-FCC8-8324A611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329167-3E3C-201F-0344-0591FE452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2F6A1-359A-D23D-1901-79C38A7E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DCC53F-9D89-5090-80FD-F58C7267D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49B69B-8EC5-8195-9D1D-48674D0F3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C81B88-9BEF-3564-FAD3-88C107E0E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8F5F173-E1E1-140A-78E6-052D4B7E7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65B020-D7AB-3083-7018-598A056FE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E2C26E0-A744-2332-E51B-EDD8C4538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FDE602-41F0-E22E-5EAC-2E63D9F41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B0898D-CB91-F6FF-4F3B-21196993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3F5E03A-0F73-34C0-8574-0B834549CDF6}"/>
              </a:ext>
            </a:extLst>
          </p:cNvPr>
          <p:cNvGrpSpPr/>
          <p:nvPr/>
        </p:nvGrpSpPr>
        <p:grpSpPr>
          <a:xfrm>
            <a:off x="841281" y="1718161"/>
            <a:ext cx="2444055" cy="3421677"/>
            <a:chOff x="3080" y="464830"/>
            <a:chExt cx="2444055" cy="342167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34B397F-1B29-E265-B89F-9B7B090E050B}"/>
                </a:ext>
              </a:extLst>
            </p:cNvPr>
            <p:cNvSpPr/>
            <p:nvPr/>
          </p:nvSpPr>
          <p:spPr>
            <a:xfrm>
              <a:off x="3080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6FAA365-060A-5820-13BB-E0E9CCB41553}"/>
                </a:ext>
              </a:extLst>
            </p:cNvPr>
            <p:cNvSpPr txBox="1"/>
            <p:nvPr/>
          </p:nvSpPr>
          <p:spPr>
            <a:xfrm>
              <a:off x="3080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/>
                <a:t>DFD level zero and one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EDC5659-9E9B-FE99-7EB4-B28347F92A7E}"/>
              </a:ext>
            </a:extLst>
          </p:cNvPr>
          <p:cNvGrpSpPr/>
          <p:nvPr/>
        </p:nvGrpSpPr>
        <p:grpSpPr>
          <a:xfrm>
            <a:off x="1550057" y="2060328"/>
            <a:ext cx="1026503" cy="1026503"/>
            <a:chOff x="711856" y="806997"/>
            <a:chExt cx="1026503" cy="102650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EB8855-20B8-141D-CCA2-53226E723F05}"/>
                </a:ext>
              </a:extLst>
            </p:cNvPr>
            <p:cNvSpPr/>
            <p:nvPr/>
          </p:nvSpPr>
          <p:spPr>
            <a:xfrm>
              <a:off x="711856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6">
              <a:extLst>
                <a:ext uri="{FF2B5EF4-FFF2-40B4-BE49-F238E27FC236}">
                  <a16:creationId xmlns:a16="http://schemas.microsoft.com/office/drawing/2014/main" id="{C24EB142-5243-F3E0-5C96-8EC5071BE866}"/>
                </a:ext>
              </a:extLst>
            </p:cNvPr>
            <p:cNvSpPr txBox="1"/>
            <p:nvPr/>
          </p:nvSpPr>
          <p:spPr>
            <a:xfrm>
              <a:off x="862184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1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0268F36-2D21-3123-2F51-C769C9CCE6C5}"/>
              </a:ext>
            </a:extLst>
          </p:cNvPr>
          <p:cNvSpPr/>
          <p:nvPr/>
        </p:nvSpPr>
        <p:spPr>
          <a:xfrm>
            <a:off x="841281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965506"/>
              <a:satOff val="-2488"/>
              <a:lumOff val="-1681"/>
              <a:alphaOff val="0"/>
            </a:schemeClr>
          </a:lnRef>
          <a:fillRef idx="3">
            <a:schemeClr val="accent5">
              <a:hueOff val="-965506"/>
              <a:satOff val="-2488"/>
              <a:lumOff val="-1681"/>
              <a:alphaOff val="0"/>
            </a:schemeClr>
          </a:fillRef>
          <a:effectRef idx="2">
            <a:schemeClr val="accent5">
              <a:hueOff val="-965506"/>
              <a:satOff val="-2488"/>
              <a:lumOff val="-16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511AA4-CF88-9348-4284-E1E0CDEA5ABC}"/>
              </a:ext>
            </a:extLst>
          </p:cNvPr>
          <p:cNvGrpSpPr/>
          <p:nvPr/>
        </p:nvGrpSpPr>
        <p:grpSpPr>
          <a:xfrm>
            <a:off x="3529742" y="1718161"/>
            <a:ext cx="2444055" cy="3421677"/>
            <a:chOff x="2691541" y="464830"/>
            <a:chExt cx="2444055" cy="342167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BE93E83-64A8-CFCB-A1F2-B95A9A420663}"/>
                </a:ext>
              </a:extLst>
            </p:cNvPr>
            <p:cNvSpPr/>
            <p:nvPr/>
          </p:nvSpPr>
          <p:spPr>
            <a:xfrm>
              <a:off x="2691541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lnRef>
            <a:fillRef idx="1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2FC4C7-C4C2-963C-CB96-0FD2875C0D87}"/>
                </a:ext>
              </a:extLst>
            </p:cNvPr>
            <p:cNvSpPr txBox="1"/>
            <p:nvPr/>
          </p:nvSpPr>
          <p:spPr>
            <a:xfrm>
              <a:off x="2691541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/>
                <a:t>ERD diagram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CE35A8-22C2-4A81-CE2F-6F9FB6DC1FF4}"/>
              </a:ext>
            </a:extLst>
          </p:cNvPr>
          <p:cNvGrpSpPr/>
          <p:nvPr/>
        </p:nvGrpSpPr>
        <p:grpSpPr>
          <a:xfrm>
            <a:off x="4238518" y="2060328"/>
            <a:ext cx="1026503" cy="1026503"/>
            <a:chOff x="3400317" y="806997"/>
            <a:chExt cx="1026503" cy="1026503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E2F1B06-84E1-4C22-7BC9-188585D11754}"/>
                </a:ext>
              </a:extLst>
            </p:cNvPr>
            <p:cNvSpPr/>
            <p:nvPr/>
          </p:nvSpPr>
          <p:spPr>
            <a:xfrm>
              <a:off x="3400317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1931012"/>
                <a:satOff val="-4977"/>
                <a:lumOff val="-3361"/>
                <a:alphaOff val="0"/>
              </a:schemeClr>
            </a:lnRef>
            <a:fillRef idx="3">
              <a:schemeClr val="accent5">
                <a:hueOff val="-1931012"/>
                <a:satOff val="-4977"/>
                <a:lumOff val="-3361"/>
                <a:alphaOff val="0"/>
              </a:schemeClr>
            </a:fillRef>
            <a:effectRef idx="2">
              <a:schemeClr val="accent5">
                <a:hueOff val="-1931012"/>
                <a:satOff val="-4977"/>
                <a:lumOff val="-336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BE2CA745-10DB-47C8-21E6-6B9F3EF55545}"/>
                </a:ext>
              </a:extLst>
            </p:cNvPr>
            <p:cNvSpPr txBox="1"/>
            <p:nvPr/>
          </p:nvSpPr>
          <p:spPr>
            <a:xfrm>
              <a:off x="3550645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2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FE648A2-BFBF-1F6D-C577-9F6EC9FC3466}"/>
              </a:ext>
            </a:extLst>
          </p:cNvPr>
          <p:cNvSpPr/>
          <p:nvPr/>
        </p:nvSpPr>
        <p:spPr>
          <a:xfrm>
            <a:off x="3529742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2896518"/>
              <a:satOff val="-7465"/>
              <a:lumOff val="-5042"/>
              <a:alphaOff val="0"/>
            </a:schemeClr>
          </a:lnRef>
          <a:fillRef idx="3">
            <a:schemeClr val="accent5">
              <a:hueOff val="-2896518"/>
              <a:satOff val="-7465"/>
              <a:lumOff val="-5042"/>
              <a:alphaOff val="0"/>
            </a:schemeClr>
          </a:fillRef>
          <a:effectRef idx="2">
            <a:schemeClr val="accent5">
              <a:hueOff val="-2896518"/>
              <a:satOff val="-7465"/>
              <a:lumOff val="-5042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08B800-73CE-2C76-747F-1949DB78DD96}"/>
              </a:ext>
            </a:extLst>
          </p:cNvPr>
          <p:cNvGrpSpPr/>
          <p:nvPr/>
        </p:nvGrpSpPr>
        <p:grpSpPr>
          <a:xfrm>
            <a:off x="6218203" y="1718161"/>
            <a:ext cx="2444055" cy="3421677"/>
            <a:chOff x="5380002" y="464830"/>
            <a:chExt cx="2444055" cy="342167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F07B784-EAD9-7A89-D62D-D78024A5A8F4}"/>
                </a:ext>
              </a:extLst>
            </p:cNvPr>
            <p:cNvSpPr/>
            <p:nvPr/>
          </p:nvSpPr>
          <p:spPr>
            <a:xfrm>
              <a:off x="5380002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lnRef>
            <a:fillRef idx="1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4E296E5-7F6B-6F3E-E478-230815830DAF}"/>
                </a:ext>
              </a:extLst>
            </p:cNvPr>
            <p:cNvSpPr txBox="1"/>
            <p:nvPr/>
          </p:nvSpPr>
          <p:spPr>
            <a:xfrm>
              <a:off x="5380002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/>
                <a:t>Demonstration 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0500D0-CF6B-7FC6-331A-F5AFEBA9C297}"/>
              </a:ext>
            </a:extLst>
          </p:cNvPr>
          <p:cNvGrpSpPr/>
          <p:nvPr/>
        </p:nvGrpSpPr>
        <p:grpSpPr>
          <a:xfrm>
            <a:off x="6926979" y="2060328"/>
            <a:ext cx="1026503" cy="1026503"/>
            <a:chOff x="6088778" y="806997"/>
            <a:chExt cx="1026503" cy="1026503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86360B8-6553-11C8-2F21-DB869F7CA2F9}"/>
                </a:ext>
              </a:extLst>
            </p:cNvPr>
            <p:cNvSpPr/>
            <p:nvPr/>
          </p:nvSpPr>
          <p:spPr>
            <a:xfrm>
              <a:off x="6088778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3862025"/>
                <a:satOff val="-9954"/>
                <a:lumOff val="-6723"/>
                <a:alphaOff val="0"/>
              </a:schemeClr>
            </a:lnRef>
            <a:fillRef idx="3">
              <a:schemeClr val="accent5">
                <a:hueOff val="-3862025"/>
                <a:satOff val="-9954"/>
                <a:lumOff val="-6723"/>
                <a:alphaOff val="0"/>
              </a:schemeClr>
            </a:fillRef>
            <a:effectRef idx="2">
              <a:schemeClr val="accent5">
                <a:hueOff val="-3862025"/>
                <a:satOff val="-9954"/>
                <a:lumOff val="-672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Oval 16">
              <a:extLst>
                <a:ext uri="{FF2B5EF4-FFF2-40B4-BE49-F238E27FC236}">
                  <a16:creationId xmlns:a16="http://schemas.microsoft.com/office/drawing/2014/main" id="{1AA8097C-D26A-B6D1-6CF6-43B893F9E785}"/>
                </a:ext>
              </a:extLst>
            </p:cNvPr>
            <p:cNvSpPr txBox="1"/>
            <p:nvPr/>
          </p:nvSpPr>
          <p:spPr>
            <a:xfrm>
              <a:off x="6239106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3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4AF1218-FB42-C644-F51B-1AFFCF51C873}"/>
              </a:ext>
            </a:extLst>
          </p:cNvPr>
          <p:cNvSpPr/>
          <p:nvPr/>
        </p:nvSpPr>
        <p:spPr>
          <a:xfrm>
            <a:off x="6218203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4827531"/>
              <a:satOff val="-12442"/>
              <a:lumOff val="-8404"/>
              <a:alphaOff val="0"/>
            </a:schemeClr>
          </a:lnRef>
          <a:fillRef idx="3">
            <a:schemeClr val="accent5">
              <a:hueOff val="-4827531"/>
              <a:satOff val="-12442"/>
              <a:lumOff val="-8404"/>
              <a:alphaOff val="0"/>
            </a:schemeClr>
          </a:fillRef>
          <a:effectRef idx="2">
            <a:schemeClr val="accent5">
              <a:hueOff val="-4827531"/>
              <a:satOff val="-12442"/>
              <a:lumOff val="-840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AD5B05-0028-D5E6-8819-5792D18A031B}"/>
              </a:ext>
            </a:extLst>
          </p:cNvPr>
          <p:cNvGrpSpPr/>
          <p:nvPr/>
        </p:nvGrpSpPr>
        <p:grpSpPr>
          <a:xfrm>
            <a:off x="8906664" y="1718161"/>
            <a:ext cx="2444055" cy="3421677"/>
            <a:chOff x="8068463" y="464830"/>
            <a:chExt cx="2444055" cy="342167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022F8AE-3DFC-23EF-540B-697142D50D8A}"/>
                </a:ext>
              </a:extLst>
            </p:cNvPr>
            <p:cNvSpPr/>
            <p:nvPr/>
          </p:nvSpPr>
          <p:spPr>
            <a:xfrm>
              <a:off x="8068463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lnRef>
            <a:fillRef idx="1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2806D1-E06B-8AD0-D71F-CB274734549E}"/>
                </a:ext>
              </a:extLst>
            </p:cNvPr>
            <p:cNvSpPr txBox="1"/>
            <p:nvPr/>
          </p:nvSpPr>
          <p:spPr>
            <a:xfrm>
              <a:off x="8068463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/>
                <a:t>Conclusion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2174D5-0EE4-82AB-CB4E-5EB0B9053F56}"/>
              </a:ext>
            </a:extLst>
          </p:cNvPr>
          <p:cNvGrpSpPr/>
          <p:nvPr/>
        </p:nvGrpSpPr>
        <p:grpSpPr>
          <a:xfrm>
            <a:off x="9615440" y="2060328"/>
            <a:ext cx="1026503" cy="1026503"/>
            <a:chOff x="8777239" y="806997"/>
            <a:chExt cx="1026503" cy="102650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7152891-CE45-2C69-AE0C-1C080858EB3F}"/>
                </a:ext>
              </a:extLst>
            </p:cNvPr>
            <p:cNvSpPr/>
            <p:nvPr/>
          </p:nvSpPr>
          <p:spPr>
            <a:xfrm>
              <a:off x="8777239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5793037"/>
                <a:satOff val="-14931"/>
                <a:lumOff val="-10084"/>
                <a:alphaOff val="0"/>
              </a:schemeClr>
            </a:lnRef>
            <a:fillRef idx="3">
              <a:schemeClr val="accent5">
                <a:hueOff val="-5793037"/>
                <a:satOff val="-14931"/>
                <a:lumOff val="-10084"/>
                <a:alphaOff val="0"/>
              </a:schemeClr>
            </a:fillRef>
            <a:effectRef idx="2">
              <a:schemeClr val="accent5">
                <a:hueOff val="-5793037"/>
                <a:satOff val="-14931"/>
                <a:lumOff val="-1008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Oval 21">
              <a:extLst>
                <a:ext uri="{FF2B5EF4-FFF2-40B4-BE49-F238E27FC236}">
                  <a16:creationId xmlns:a16="http://schemas.microsoft.com/office/drawing/2014/main" id="{07825BF3-EE5E-AB52-22DF-69EE296FE926}"/>
                </a:ext>
              </a:extLst>
            </p:cNvPr>
            <p:cNvSpPr txBox="1"/>
            <p:nvPr/>
          </p:nvSpPr>
          <p:spPr>
            <a:xfrm>
              <a:off x="8927567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4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007ED3A-93C7-69F2-AFC4-B14CB18C0C86}"/>
              </a:ext>
            </a:extLst>
          </p:cNvPr>
          <p:cNvSpPr/>
          <p:nvPr/>
        </p:nvSpPr>
        <p:spPr>
          <a:xfrm>
            <a:off x="8906664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6758543"/>
              <a:satOff val="-17419"/>
              <a:lumOff val="-11765"/>
              <a:alphaOff val="0"/>
            </a:schemeClr>
          </a:lnRef>
          <a:fillRef idx="3">
            <a:schemeClr val="accent5">
              <a:hueOff val="-6758543"/>
              <a:satOff val="-17419"/>
              <a:lumOff val="-11765"/>
              <a:alphaOff val="0"/>
            </a:schemeClr>
          </a:fillRef>
          <a:effectRef idx="2">
            <a:schemeClr val="accent5">
              <a:hueOff val="-6758543"/>
              <a:satOff val="-17419"/>
              <a:lumOff val="-11765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0D028D45-41D9-57B2-8E3D-B6BF28655691}"/>
              </a:ext>
            </a:extLst>
          </p:cNvPr>
          <p:cNvSpPr txBox="1">
            <a:spLocks/>
          </p:cNvSpPr>
          <p:nvPr/>
        </p:nvSpPr>
        <p:spPr>
          <a:xfrm>
            <a:off x="378759" y="174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52762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7E5A6-23BF-A084-9C32-B6C4FA3F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4A101-0C7D-98BC-B1FF-9970BF431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066" y="1509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DFD Diagrams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002350B7-B70C-E58E-BF92-271E1F002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07" y="1580073"/>
            <a:ext cx="10262585" cy="51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54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5B0D-3327-5D39-FA47-9F264230C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C80695A-074B-123D-DE90-F9B9EE5A7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6057E5-9F3E-EDB8-974F-E39CBE9D3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222386-FAE5-AF5B-7D35-F071AC050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307BEE-7EBB-3747-06AC-31C77D1A6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52239-473C-4603-246A-AF97D17F4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ERD Diagram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867D00-52B7-50AC-B16A-7A3EFE854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" y="1417206"/>
            <a:ext cx="12190137" cy="544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8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58BA3-F5E3-BE07-FD03-20E8CBA5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Server Structure</a:t>
            </a:r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3813946-08F2-40CC-581D-464D9E192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55046" y="1089664"/>
            <a:ext cx="7573130" cy="491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FF2B5-852A-EDD0-B073-AF428128E22C}"/>
              </a:ext>
            </a:extLst>
          </p:cNvPr>
          <p:cNvSpPr>
            <a:spLocks noGrp="1"/>
          </p:cNvSpPr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 will </a:t>
            </a:r>
            <a:r>
              <a:rPr lang="en-US" sz="4000">
                <a:solidFill>
                  <a:srgbClr val="FFFFFF"/>
                </a:solidFill>
              </a:rPr>
              <a:t>demonstrate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04E228-37A9-5E59-B124-879E5B338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340443"/>
              </p:ext>
            </p:extLst>
          </p:nvPr>
        </p:nvGraphicFramePr>
        <p:xfrm>
          <a:off x="829235" y="1580029"/>
          <a:ext cx="10486333" cy="512150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007227">
                  <a:extLst>
                    <a:ext uri="{9D8B030D-6E8A-4147-A177-3AD203B41FA5}">
                      <a16:colId xmlns:a16="http://schemas.microsoft.com/office/drawing/2014/main" val="3772628775"/>
                    </a:ext>
                  </a:extLst>
                </a:gridCol>
                <a:gridCol w="6479106">
                  <a:extLst>
                    <a:ext uri="{9D8B030D-6E8A-4147-A177-3AD203B41FA5}">
                      <a16:colId xmlns:a16="http://schemas.microsoft.com/office/drawing/2014/main" val="2490960019"/>
                    </a:ext>
                  </a:extLst>
                </a:gridCol>
              </a:tblGrid>
              <a:tr h="87797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sz="2000" b="1" cap="none" spc="3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0" marR="11639" marT="204803" marB="2048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1" cap="none" spc="3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0" marR="11639" marT="204803" marB="2048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425611"/>
                  </a:ext>
                </a:extLst>
              </a:tr>
              <a:tr h="84870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📷 Receipt Upload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Scan receipts with Veryfi OCR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723029"/>
                  </a:ext>
                </a:extLst>
              </a:tr>
              <a:tr h="84870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💰 Expense Tracking</a:t>
                      </a:r>
                    </a:p>
                  </a:txBody>
                  <a:tcPr marL="58196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Manual or automatic transaction entry</a:t>
                      </a:r>
                    </a:p>
                  </a:txBody>
                  <a:tcPr marL="58196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19952"/>
                  </a:ext>
                </a:extLst>
              </a:tr>
              <a:tr h="84870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🤖 AI Insights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Smart spending analysis and suggestions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04127"/>
                  </a:ext>
                </a:extLst>
              </a:tr>
              <a:tr h="84870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✏️ Edit Transactions</a:t>
                      </a:r>
                    </a:p>
                  </a:txBody>
                  <a:tcPr marL="58196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Update expenses and incomes anytime</a:t>
                      </a:r>
                    </a:p>
                  </a:txBody>
                  <a:tcPr marL="58196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236696"/>
                  </a:ext>
                </a:extLst>
              </a:tr>
              <a:tr h="84870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📊 Dashboard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View balance and transaction history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71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764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4706-3198-3E4B-1E20-5911C8DFC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549C05-3F99-1D25-0D31-CD48016C0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83FB4-AADF-D9EC-21B0-6B91A437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E1FD70-D6B7-A63A-EDF9-FD8C9544F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2F4639-95B6-58C2-CAF5-3683AE8BF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9">
            <a:extLst>
              <a:ext uri="{FF2B5EF4-FFF2-40B4-BE49-F238E27FC236}">
                <a16:creationId xmlns:a16="http://schemas.microsoft.com/office/drawing/2014/main" id="{33BE4427-C8A5-6842-FC13-D538E2980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B1047D-937D-77D0-02D3-89E29C8C043A}"/>
              </a:ext>
            </a:extLst>
          </p:cNvPr>
          <p:cNvSpPr txBox="1">
            <a:spLocks/>
          </p:cNvSpPr>
          <p:nvPr/>
        </p:nvSpPr>
        <p:spPr>
          <a:xfrm>
            <a:off x="495298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Graphs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8533FA-5F1C-07E9-D9F1-1C5CE8567ADF}"/>
              </a:ext>
            </a:extLst>
          </p:cNvPr>
          <p:cNvSpPr txBox="1">
            <a:spLocks/>
          </p:cNvSpPr>
          <p:nvPr/>
        </p:nvSpPr>
        <p:spPr>
          <a:xfrm>
            <a:off x="288301" y="1690688"/>
            <a:ext cx="3761509" cy="4486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Various types</a:t>
            </a:r>
          </a:p>
          <a:p>
            <a:r>
              <a:rPr lang="en-US" dirty="0">
                <a:solidFill>
                  <a:schemeClr val="bg1"/>
                </a:solidFill>
              </a:rPr>
              <a:t>Allowed for visual representation of trends/analyses</a:t>
            </a:r>
          </a:p>
          <a:p>
            <a:r>
              <a:rPr lang="en-US" dirty="0">
                <a:solidFill>
                  <a:schemeClr val="bg1"/>
                </a:solidFill>
              </a:rPr>
              <a:t>Plan to implement in Phase 4 and beyond</a:t>
            </a:r>
          </a:p>
        </p:txBody>
      </p:sp>
      <p:pic>
        <p:nvPicPr>
          <p:cNvPr id="12" name="Picture 2" descr="Image shared by Daniel Austin">
            <a:extLst>
              <a:ext uri="{FF2B5EF4-FFF2-40B4-BE49-F238E27FC236}">
                <a16:creationId xmlns:a16="http://schemas.microsoft.com/office/drawing/2014/main" id="{4043705D-C69A-D548-ACDA-6280E97DA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852" y="852199"/>
            <a:ext cx="6284948" cy="532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35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D5DA7-6CEC-BDC0-17C0-206350CEA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74C2D-71CF-4986-4F5E-69F1F839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025" y="265073"/>
            <a:ext cx="4977976" cy="1454051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E54AF-2FE5-54A5-F419-2C41FC5F7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90" y="2051888"/>
            <a:ext cx="5918871" cy="44909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Dollar Doodle is more than just a regular personal finance application.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</a:rPr>
              <a:t>We use AI insights to help the user make better financial decisions.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</a:rPr>
              <a:t>User friendly interface allows for easy use of the application.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</a:rPr>
              <a:t>Many features that we covered that makes it easier to use.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Piggy Bank">
            <a:extLst>
              <a:ext uri="{FF2B5EF4-FFF2-40B4-BE49-F238E27FC236}">
                <a16:creationId xmlns:a16="http://schemas.microsoft.com/office/drawing/2014/main" id="{70155E33-2567-B3E9-6D21-39D8067583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23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CFCFD-958D-5EB7-4D6B-24F4E5D2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442" y="201115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Team Responsibilities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D3EB9-872A-1FFC-3B58-A6B736C98A20}"/>
              </a:ext>
            </a:extLst>
          </p:cNvPr>
          <p:cNvSpPr txBox="1"/>
          <p:nvPr/>
        </p:nvSpPr>
        <p:spPr>
          <a:xfrm>
            <a:off x="1589965" y="5777350"/>
            <a:ext cx="9021170" cy="540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Contact Us: dollardoodledev@gmail.com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D0D190-26FA-B607-612A-3AFDA829AC26}"/>
              </a:ext>
            </a:extLst>
          </p:cNvPr>
          <p:cNvGrpSpPr/>
          <p:nvPr/>
        </p:nvGrpSpPr>
        <p:grpSpPr>
          <a:xfrm>
            <a:off x="4373672" y="1711067"/>
            <a:ext cx="3179928" cy="1319989"/>
            <a:chOff x="2716857" y="10504"/>
            <a:chExt cx="3710285" cy="222617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83C729-DD4F-25C2-E192-A074152F1504}"/>
                </a:ext>
              </a:extLst>
            </p:cNvPr>
            <p:cNvSpPr/>
            <p:nvPr/>
          </p:nvSpPr>
          <p:spPr>
            <a:xfrm>
              <a:off x="2716857" y="10504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5338D7-8472-81F1-F35A-8C0D41FBF8FE}"/>
                </a:ext>
              </a:extLst>
            </p:cNvPr>
            <p:cNvSpPr txBox="1"/>
            <p:nvPr/>
          </p:nvSpPr>
          <p:spPr>
            <a:xfrm>
              <a:off x="2716857" y="10504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Alex Hildreth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40" kern="120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Project Manager</a:t>
              </a:r>
              <a:endParaRPr lang="en-US" sz="2400" b="0" kern="120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200C015-36CA-478B-E33F-5E8076958465}"/>
              </a:ext>
            </a:extLst>
          </p:cNvPr>
          <p:cNvGrpSpPr/>
          <p:nvPr/>
        </p:nvGrpSpPr>
        <p:grpSpPr>
          <a:xfrm>
            <a:off x="7432953" y="3857168"/>
            <a:ext cx="3179927" cy="1410878"/>
            <a:chOff x="4747682" y="2479862"/>
            <a:chExt cx="3710285" cy="222617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02B0FC-28BA-002B-37E3-9B9FC6DAB110}"/>
                </a:ext>
              </a:extLst>
            </p:cNvPr>
            <p:cNvSpPr/>
            <p:nvPr/>
          </p:nvSpPr>
          <p:spPr>
            <a:xfrm>
              <a:off x="4747682" y="2479862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654278"/>
                <a:satOff val="-8885"/>
                <a:lumOff val="3039"/>
                <a:alphaOff val="0"/>
              </a:schemeClr>
            </a:fillRef>
            <a:effectRef idx="0">
              <a:schemeClr val="accent5">
                <a:hueOff val="-1654278"/>
                <a:satOff val="-8885"/>
                <a:lumOff val="303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F86F95-D9D8-1EBE-7C14-A6CB8E1449EE}"/>
                </a:ext>
              </a:extLst>
            </p:cNvPr>
            <p:cNvSpPr txBox="1"/>
            <p:nvPr/>
          </p:nvSpPr>
          <p:spPr>
            <a:xfrm>
              <a:off x="4747682" y="2479862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50" b="1" kern="1200" err="1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Roumaysae</a:t>
              </a:r>
              <a:r>
                <a:rPr lang="en-US" sz="2350" b="1" kern="120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lang="en-US" sz="2350" b="1" kern="1200" err="1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Jerari</a:t>
              </a:r>
              <a:endParaRPr lang="en-US" sz="2350" b="1" kern="120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50" b="1" kern="120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Eva </a:t>
              </a:r>
              <a:r>
                <a:rPr lang="en-US" sz="2350" b="1" kern="1200" err="1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Buesse</a:t>
              </a:r>
              <a:endParaRPr lang="en-US" sz="2350" b="1" kern="120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>
                  <a:solidFill>
                    <a:prstClr val="white"/>
                  </a:solidFill>
                  <a:latin typeface="Times New Roman"/>
                  <a:ea typeface="+mn-ea"/>
                  <a:cs typeface="Times New Roman"/>
                </a:rPr>
                <a:t> Back End </a:t>
              </a:r>
              <a:r>
                <a:rPr lang="en-US" sz="2000">
                  <a:solidFill>
                    <a:prstClr val="white"/>
                  </a:solidFill>
                  <a:latin typeface="Times New Roman"/>
                  <a:cs typeface="Times New Roman"/>
                </a:rPr>
                <a:t>Development</a:t>
              </a:r>
              <a:endParaRPr lang="en-US" sz="2400" b="0" kern="12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B2BCC7-492A-2F5D-3F0C-3A41962A8E27}"/>
              </a:ext>
            </a:extLst>
          </p:cNvPr>
          <p:cNvGrpSpPr/>
          <p:nvPr/>
        </p:nvGrpSpPr>
        <p:grpSpPr>
          <a:xfrm>
            <a:off x="1960121" y="3857575"/>
            <a:ext cx="3179928" cy="1410879"/>
            <a:chOff x="635016" y="2530500"/>
            <a:chExt cx="3710285" cy="22261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FF0013-40A3-D6EB-145E-8D28BEC13B7B}"/>
                </a:ext>
              </a:extLst>
            </p:cNvPr>
            <p:cNvSpPr/>
            <p:nvPr/>
          </p:nvSpPr>
          <p:spPr>
            <a:xfrm>
              <a:off x="635016" y="2530500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308557"/>
                <a:satOff val="-17770"/>
                <a:lumOff val="6078"/>
                <a:alphaOff val="0"/>
              </a:schemeClr>
            </a:fillRef>
            <a:effectRef idx="0">
              <a:schemeClr val="accent5">
                <a:hueOff val="-3308557"/>
                <a:satOff val="-17770"/>
                <a:lumOff val="607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CC887C-C0B1-00E1-E8F1-869679641A1A}"/>
                </a:ext>
              </a:extLst>
            </p:cNvPr>
            <p:cNvSpPr txBox="1"/>
            <p:nvPr/>
          </p:nvSpPr>
          <p:spPr>
            <a:xfrm>
              <a:off x="635016" y="2530500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Nick Schott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Daniel Austin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40" kern="120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Front End Development</a:t>
              </a:r>
              <a:endParaRPr lang="en-US" sz="2400" b="0" kern="120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444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10154</TotalTime>
  <Words>224</Words>
  <Application>Microsoft Macintosh PowerPoint</Application>
  <PresentationFormat>Widescreen</PresentationFormat>
  <Paragraphs>67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Courier New</vt:lpstr>
      <vt:lpstr>quote-cjk-patch</vt:lpstr>
      <vt:lpstr>Times New Roman</vt:lpstr>
      <vt:lpstr>Office Theme</vt:lpstr>
      <vt:lpstr>PowerPoint Presentation</vt:lpstr>
      <vt:lpstr>A Reminder of Dollar Doodle</vt:lpstr>
      <vt:lpstr>PowerPoint Presentation</vt:lpstr>
      <vt:lpstr>DFD Diagrams</vt:lpstr>
      <vt:lpstr>ERD Diagram</vt:lpstr>
      <vt:lpstr>Server Structure</vt:lpstr>
      <vt:lpstr>PowerPoint Presentation</vt:lpstr>
      <vt:lpstr>PowerPoint Presentation</vt:lpstr>
      <vt:lpstr>Conclusion</vt:lpstr>
      <vt:lpstr>Team Responsibilities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Austin</dc:creator>
  <cp:lastModifiedBy>Daniel Austin</cp:lastModifiedBy>
  <cp:revision>2</cp:revision>
  <dcterms:created xsi:type="dcterms:W3CDTF">2026-04-13T12:09:21Z</dcterms:created>
  <dcterms:modified xsi:type="dcterms:W3CDTF">2026-04-20T13:23:59Z</dcterms:modified>
</cp:coreProperties>
</file>